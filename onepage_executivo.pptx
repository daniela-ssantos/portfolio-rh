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2E101E"/>
          </a:solidFill>
          <a:ln w="12700">
            <a:solidFill>
              <a:srgbClr val="2E101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576" y="-9144"/>
            <a:ext cx="8211312" cy="69494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36" y="-91440"/>
            <a:ext cx="4005072" cy="7772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713232"/>
            <a:ext cx="12161520" cy="59436"/>
          </a:xfrm>
          <a:prstGeom prst="rect">
            <a:avLst/>
          </a:prstGeom>
          <a:solidFill>
            <a:srgbClr val="BF144A"/>
          </a:solidFill>
          <a:ln w="12700">
            <a:solidFill>
              <a:srgbClr val="BF144A"/>
            </a:solidFill>
            <a:prstDash val="solid"/>
          </a:ln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" y="18288"/>
            <a:ext cx="1225296" cy="6858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316736" y="0"/>
            <a:ext cx="8686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DE PROJETOS RH  ·  Visão Executiva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10058400" y="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7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164592" y="850392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164592" y="9418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11" name="Text 6"/>
          <p:cNvSpPr/>
          <p:nvPr/>
        </p:nvSpPr>
        <p:spPr>
          <a:xfrm>
            <a:off x="164592" y="13258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Projetos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2153412" y="850392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2153412" y="9418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2153412" y="13258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142232" y="850392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4142232" y="9418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4142232" y="13258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Concluídos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131052" y="850392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131052" y="9418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6131052" y="13258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Iniciados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8119872" y="850392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8119872" y="9418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8119872" y="13258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Estruturantes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10108692" y="850392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10108692" y="9418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26" name="Text 21"/>
          <p:cNvSpPr/>
          <p:nvPr/>
        </p:nvSpPr>
        <p:spPr>
          <a:xfrm>
            <a:off x="10108692" y="13258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Contínua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164592" y="1892808"/>
            <a:ext cx="347472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164592" y="2057400"/>
            <a:ext cx="50292" cy="1682496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20040" y="200253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por Quarter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347472" y="3523053"/>
            <a:ext cx="475488" cy="180267"/>
          </a:xfrm>
          <a:prstGeom prst="roundRect">
            <a:avLst>
              <a:gd name="adj" fmla="val 30435"/>
            </a:avLst>
          </a:prstGeom>
          <a:solidFill>
            <a:srgbClr val="662046"/>
          </a:solidFill>
          <a:ln w="12700">
            <a:solidFill>
              <a:srgbClr val="66204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47472" y="3303597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2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347472" y="3721608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1069848" y="2441448"/>
            <a:ext cx="475488" cy="1261872"/>
          </a:xfrm>
          <a:prstGeom prst="roundRect">
            <a:avLst>
              <a:gd name="adj" fmla="val 11538"/>
            </a:avLst>
          </a:prstGeom>
          <a:solidFill>
            <a:srgbClr val="662046"/>
          </a:solidFill>
          <a:ln w="12700">
            <a:solidFill>
              <a:srgbClr val="662046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1069848" y="2221992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2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1069848" y="3721608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1792224" y="2441448"/>
            <a:ext cx="475488" cy="1261872"/>
          </a:xfrm>
          <a:prstGeom prst="roundRect">
            <a:avLst>
              <a:gd name="adj" fmla="val 11538"/>
            </a:avLst>
          </a:prstGeom>
          <a:solidFill>
            <a:srgbClr val="662046"/>
          </a:solidFill>
          <a:ln w="12700">
            <a:solidFill>
              <a:srgbClr val="662046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792224" y="2221992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2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1792224" y="3721608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2514600" y="3523053"/>
            <a:ext cx="475488" cy="180267"/>
          </a:xfrm>
          <a:prstGeom prst="roundRect">
            <a:avLst>
              <a:gd name="adj" fmla="val 30435"/>
            </a:avLst>
          </a:prstGeom>
          <a:solidFill>
            <a:srgbClr val="662046"/>
          </a:solidFill>
          <a:ln w="12700">
            <a:solidFill>
              <a:srgbClr val="662046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2514600" y="3303597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2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2514600" y="3721608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3813048" y="1892808"/>
            <a:ext cx="397764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3813048" y="2057400"/>
            <a:ext cx="50292" cy="1682496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3968496" y="200253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Prioridades — Q2/2026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3931920" y="2313432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F8F6FA"/>
          </a:solidFill>
          <a:ln w="6350">
            <a:solidFill>
              <a:srgbClr val="EEECF0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3986784" y="234086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 Modalidade de Trabalho</a:t>
            </a:r>
            <a:endParaRPr lang="en-US" sz="850" dirty="0"/>
          </a:p>
        </p:txBody>
      </p:sp>
      <p:sp>
        <p:nvSpPr>
          <p:cNvPr id="47" name="Text 42"/>
          <p:cNvSpPr/>
          <p:nvPr/>
        </p:nvSpPr>
        <p:spPr>
          <a:xfrm>
            <a:off x="3986784" y="2496312"/>
            <a:ext cx="1828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Admissão e Cadastro</a:t>
            </a:r>
            <a:endParaRPr lang="en-US" sz="750" dirty="0"/>
          </a:p>
        </p:txBody>
      </p:sp>
      <p:sp>
        <p:nvSpPr>
          <p:cNvPr id="48" name="Text 43"/>
          <p:cNvSpPr/>
          <p:nvPr/>
        </p:nvSpPr>
        <p:spPr>
          <a:xfrm>
            <a:off x="5577840" y="2496312"/>
            <a:ext cx="21031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Em andamento</a:t>
            </a:r>
            <a:endParaRPr lang="en-US" sz="750" dirty="0"/>
          </a:p>
        </p:txBody>
      </p:sp>
      <p:sp>
        <p:nvSpPr>
          <p:cNvPr id="49" name="Shape 44"/>
          <p:cNvSpPr/>
          <p:nvPr/>
        </p:nvSpPr>
        <p:spPr>
          <a:xfrm>
            <a:off x="3931920" y="2679192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F8F6FA"/>
          </a:solidFill>
          <a:ln w="6350">
            <a:solidFill>
              <a:srgbClr val="EEECF0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3986784" y="27066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Cartas de Remuneração</a:t>
            </a:r>
            <a:endParaRPr lang="en-US" sz="850" dirty="0"/>
          </a:p>
        </p:txBody>
      </p:sp>
      <p:sp>
        <p:nvSpPr>
          <p:cNvPr id="51" name="Text 46"/>
          <p:cNvSpPr/>
          <p:nvPr/>
        </p:nvSpPr>
        <p:spPr>
          <a:xfrm>
            <a:off x="3986784" y="2862072"/>
            <a:ext cx="1828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Remuneração</a:t>
            </a:r>
            <a:endParaRPr lang="en-US" sz="750" dirty="0"/>
          </a:p>
        </p:txBody>
      </p:sp>
      <p:sp>
        <p:nvSpPr>
          <p:cNvPr id="52" name="Text 47"/>
          <p:cNvSpPr/>
          <p:nvPr/>
        </p:nvSpPr>
        <p:spPr>
          <a:xfrm>
            <a:off x="5577840" y="2862072"/>
            <a:ext cx="21031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Em andamento</a:t>
            </a:r>
            <a:endParaRPr lang="en-US" sz="750" dirty="0"/>
          </a:p>
        </p:txBody>
      </p:sp>
      <p:sp>
        <p:nvSpPr>
          <p:cNvPr id="53" name="Shape 48"/>
          <p:cNvSpPr/>
          <p:nvPr/>
        </p:nvSpPr>
        <p:spPr>
          <a:xfrm>
            <a:off x="3931920" y="3044952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F8F6FA"/>
          </a:solidFill>
          <a:ln w="6350">
            <a:solidFill>
              <a:srgbClr val="EEECF0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3986784" y="307238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Demonstrativo + Otimização Benefícios</a:t>
            </a:r>
            <a:endParaRPr lang="en-US" sz="850" dirty="0"/>
          </a:p>
        </p:txBody>
      </p:sp>
      <p:sp>
        <p:nvSpPr>
          <p:cNvPr id="55" name="Text 50"/>
          <p:cNvSpPr/>
          <p:nvPr/>
        </p:nvSpPr>
        <p:spPr>
          <a:xfrm>
            <a:off x="3986784" y="3227832"/>
            <a:ext cx="1828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</a:t>
            </a:r>
            <a:endParaRPr lang="en-US" sz="750" dirty="0"/>
          </a:p>
        </p:txBody>
      </p:sp>
      <p:sp>
        <p:nvSpPr>
          <p:cNvPr id="56" name="Text 51"/>
          <p:cNvSpPr/>
          <p:nvPr/>
        </p:nvSpPr>
        <p:spPr>
          <a:xfrm>
            <a:off x="5577840" y="3227832"/>
            <a:ext cx="21031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Em andamento</a:t>
            </a:r>
            <a:endParaRPr lang="en-US" sz="750" dirty="0"/>
          </a:p>
        </p:txBody>
      </p:sp>
      <p:sp>
        <p:nvSpPr>
          <p:cNvPr id="57" name="Shape 52"/>
          <p:cNvSpPr/>
          <p:nvPr/>
        </p:nvSpPr>
        <p:spPr>
          <a:xfrm>
            <a:off x="3931920" y="3410712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F8F6FA"/>
          </a:solidFill>
          <a:ln w="6350">
            <a:solidFill>
              <a:srgbClr val="EEECF0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3986784" y="343814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Categorização chamados e-mail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3986784" y="3593592"/>
            <a:ext cx="1828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750" dirty="0"/>
          </a:p>
        </p:txBody>
      </p:sp>
      <p:sp>
        <p:nvSpPr>
          <p:cNvPr id="60" name="Text 55"/>
          <p:cNvSpPr/>
          <p:nvPr/>
        </p:nvSpPr>
        <p:spPr>
          <a:xfrm>
            <a:off x="5577840" y="3593592"/>
            <a:ext cx="21031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Em andamento</a:t>
            </a:r>
            <a:endParaRPr lang="en-US" sz="750" dirty="0"/>
          </a:p>
        </p:txBody>
      </p:sp>
      <p:sp>
        <p:nvSpPr>
          <p:cNvPr id="61" name="Shape 56"/>
          <p:cNvSpPr/>
          <p:nvPr/>
        </p:nvSpPr>
        <p:spPr>
          <a:xfrm>
            <a:off x="7955280" y="1892808"/>
            <a:ext cx="4041648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2" name="Shape 57"/>
          <p:cNvSpPr/>
          <p:nvPr/>
        </p:nvSpPr>
        <p:spPr>
          <a:xfrm>
            <a:off x="7955280" y="2057400"/>
            <a:ext cx="50292" cy="1682496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110728" y="200253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Vencimentos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8083296" y="2313432"/>
            <a:ext cx="3803904" cy="329184"/>
          </a:xfrm>
          <a:prstGeom prst="roundRect">
            <a:avLst>
              <a:gd name="adj" fmla="val 22222"/>
            </a:avLst>
          </a:prstGeom>
          <a:solidFill>
            <a:srgbClr val="F8F6FA"/>
          </a:solidFill>
          <a:ln w="6350">
            <a:solidFill>
              <a:srgbClr val="EEECF0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8083296" y="2313432"/>
            <a:ext cx="658368" cy="329184"/>
          </a:xfrm>
          <a:prstGeom prst="roundRect">
            <a:avLst>
              <a:gd name="adj" fmla="val 22222"/>
            </a:avLst>
          </a:prstGeom>
          <a:solidFill>
            <a:srgbClr val="BF144A"/>
          </a:solidFill>
          <a:ln w="12700">
            <a:solidFill>
              <a:srgbClr val="BF144A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8083296" y="231343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abr/26</a:t>
            </a:r>
            <a:endParaRPr lang="en-US" sz="800" dirty="0"/>
          </a:p>
        </p:txBody>
      </p:sp>
      <p:sp>
        <p:nvSpPr>
          <p:cNvPr id="67" name="Text 62"/>
          <p:cNvSpPr/>
          <p:nvPr/>
        </p:nvSpPr>
        <p:spPr>
          <a:xfrm>
            <a:off x="8796528" y="2340864"/>
            <a:ext cx="2999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 Modalidade de Trabalho</a:t>
            </a:r>
            <a:endParaRPr lang="en-US" sz="850" dirty="0"/>
          </a:p>
        </p:txBody>
      </p:sp>
      <p:sp>
        <p:nvSpPr>
          <p:cNvPr id="68" name="Text 63"/>
          <p:cNvSpPr/>
          <p:nvPr/>
        </p:nvSpPr>
        <p:spPr>
          <a:xfrm>
            <a:off x="8796528" y="2496312"/>
            <a:ext cx="299923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Admissão e Cadastro</a:t>
            </a:r>
            <a:endParaRPr lang="en-US" sz="750" dirty="0"/>
          </a:p>
        </p:txBody>
      </p:sp>
      <p:sp>
        <p:nvSpPr>
          <p:cNvPr id="69" name="Shape 64"/>
          <p:cNvSpPr/>
          <p:nvPr/>
        </p:nvSpPr>
        <p:spPr>
          <a:xfrm>
            <a:off x="8083296" y="2715768"/>
            <a:ext cx="3803904" cy="329184"/>
          </a:xfrm>
          <a:prstGeom prst="roundRect">
            <a:avLst>
              <a:gd name="adj" fmla="val 22222"/>
            </a:avLst>
          </a:prstGeom>
          <a:solidFill>
            <a:srgbClr val="F8F6FA"/>
          </a:solidFill>
          <a:ln w="6350">
            <a:solidFill>
              <a:srgbClr val="EEECF0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8083296" y="2715768"/>
            <a:ext cx="658368" cy="329184"/>
          </a:xfrm>
          <a:prstGeom prst="roundRect">
            <a:avLst>
              <a:gd name="adj" fmla="val 22222"/>
            </a:avLst>
          </a:prstGeom>
          <a:solidFill>
            <a:srgbClr val="BF144A"/>
          </a:solidFill>
          <a:ln w="12700">
            <a:solidFill>
              <a:srgbClr val="BF144A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8083296" y="271576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abr/26</a:t>
            </a:r>
            <a:endParaRPr lang="en-US" sz="800" dirty="0"/>
          </a:p>
        </p:txBody>
      </p:sp>
      <p:sp>
        <p:nvSpPr>
          <p:cNvPr id="72" name="Text 67"/>
          <p:cNvSpPr/>
          <p:nvPr/>
        </p:nvSpPr>
        <p:spPr>
          <a:xfrm>
            <a:off x="8796528" y="2743200"/>
            <a:ext cx="2999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Cartas de Remuneração</a:t>
            </a:r>
            <a:endParaRPr lang="en-US" sz="850" dirty="0"/>
          </a:p>
        </p:txBody>
      </p:sp>
      <p:sp>
        <p:nvSpPr>
          <p:cNvPr id="73" name="Text 68"/>
          <p:cNvSpPr/>
          <p:nvPr/>
        </p:nvSpPr>
        <p:spPr>
          <a:xfrm>
            <a:off x="8796528" y="2898648"/>
            <a:ext cx="299923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Remuneração</a:t>
            </a:r>
            <a:endParaRPr lang="en-US" sz="750" dirty="0"/>
          </a:p>
        </p:txBody>
      </p:sp>
      <p:sp>
        <p:nvSpPr>
          <p:cNvPr id="74" name="Shape 69"/>
          <p:cNvSpPr/>
          <p:nvPr/>
        </p:nvSpPr>
        <p:spPr>
          <a:xfrm>
            <a:off x="8083296" y="3118104"/>
            <a:ext cx="3803904" cy="329184"/>
          </a:xfrm>
          <a:prstGeom prst="roundRect">
            <a:avLst>
              <a:gd name="adj" fmla="val 22222"/>
            </a:avLst>
          </a:prstGeom>
          <a:solidFill>
            <a:srgbClr val="F8F6FA"/>
          </a:solidFill>
          <a:ln w="6350">
            <a:solidFill>
              <a:srgbClr val="EEECF0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8083296" y="3118104"/>
            <a:ext cx="658368" cy="329184"/>
          </a:xfrm>
          <a:prstGeom prst="roundRect">
            <a:avLst>
              <a:gd name="adj" fmla="val 22222"/>
            </a:avLst>
          </a:prstGeom>
          <a:solidFill>
            <a:srgbClr val="BF144A"/>
          </a:solidFill>
          <a:ln w="12700">
            <a:solidFill>
              <a:srgbClr val="BF144A"/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8083296" y="311810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abr/26</a:t>
            </a:r>
            <a:endParaRPr lang="en-US" sz="800" dirty="0"/>
          </a:p>
        </p:txBody>
      </p:sp>
      <p:sp>
        <p:nvSpPr>
          <p:cNvPr id="77" name="Text 72"/>
          <p:cNvSpPr/>
          <p:nvPr/>
        </p:nvSpPr>
        <p:spPr>
          <a:xfrm>
            <a:off x="8796528" y="3145536"/>
            <a:ext cx="2999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Demonstrativo + Otimização Benefícios</a:t>
            </a:r>
            <a:endParaRPr lang="en-US" sz="850" dirty="0"/>
          </a:p>
        </p:txBody>
      </p:sp>
      <p:sp>
        <p:nvSpPr>
          <p:cNvPr id="78" name="Text 73"/>
          <p:cNvSpPr/>
          <p:nvPr/>
        </p:nvSpPr>
        <p:spPr>
          <a:xfrm>
            <a:off x="8796528" y="3300984"/>
            <a:ext cx="299923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</a:t>
            </a:r>
            <a:endParaRPr lang="en-US" sz="750" dirty="0"/>
          </a:p>
        </p:txBody>
      </p:sp>
      <p:sp>
        <p:nvSpPr>
          <p:cNvPr id="79" name="Shape 74"/>
          <p:cNvSpPr/>
          <p:nvPr/>
        </p:nvSpPr>
        <p:spPr>
          <a:xfrm>
            <a:off x="8119872" y="360273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BF144A"/>
          </a:solidFill>
          <a:ln w="12700">
            <a:solidFill>
              <a:srgbClr val="BF144A"/>
            </a:solidFill>
            <a:prstDash val="solid"/>
          </a:ln>
        </p:spPr>
      </p:sp>
      <p:sp>
        <p:nvSpPr>
          <p:cNvPr id="80" name="Text 75"/>
          <p:cNvSpPr/>
          <p:nvPr/>
        </p:nvSpPr>
        <p:spPr>
          <a:xfrm>
            <a:off x="8275320" y="35661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 dias</a:t>
            </a:r>
            <a:endParaRPr lang="en-US" sz="800" dirty="0"/>
          </a:p>
        </p:txBody>
      </p:sp>
      <p:sp>
        <p:nvSpPr>
          <p:cNvPr id="81" name="Shape 76"/>
          <p:cNvSpPr/>
          <p:nvPr/>
        </p:nvSpPr>
        <p:spPr>
          <a:xfrm>
            <a:off x="9418320" y="360273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C47D00"/>
          </a:solidFill>
          <a:ln w="12700">
            <a:solidFill>
              <a:srgbClr val="C47D00"/>
            </a:solidFill>
            <a:prstDash val="solid"/>
          </a:ln>
        </p:spPr>
      </p:sp>
      <p:sp>
        <p:nvSpPr>
          <p:cNvPr id="82" name="Text 77"/>
          <p:cNvSpPr/>
          <p:nvPr/>
        </p:nvSpPr>
        <p:spPr>
          <a:xfrm>
            <a:off x="9573768" y="35661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60 dias</a:t>
            </a:r>
            <a:endParaRPr lang="en-US" sz="800" dirty="0"/>
          </a:p>
        </p:txBody>
      </p:sp>
      <p:sp>
        <p:nvSpPr>
          <p:cNvPr id="83" name="Shape 78"/>
          <p:cNvSpPr/>
          <p:nvPr/>
        </p:nvSpPr>
        <p:spPr>
          <a:xfrm>
            <a:off x="10716768" y="3602736"/>
            <a:ext cx="118872" cy="118872"/>
          </a:xfrm>
          <a:prstGeom prst="roundRect">
            <a:avLst>
              <a:gd name="adj" fmla="val 15385"/>
            </a:avLst>
          </a:prstGeom>
          <a:solidFill>
            <a:srgbClr val="662046"/>
          </a:solidFill>
          <a:ln w="12700">
            <a:solidFill>
              <a:srgbClr val="662046"/>
            </a:solidFill>
            <a:prstDash val="solid"/>
          </a:ln>
        </p:spPr>
      </p:sp>
      <p:sp>
        <p:nvSpPr>
          <p:cNvPr id="84" name="Text 79"/>
          <p:cNvSpPr/>
          <p:nvPr/>
        </p:nvSpPr>
        <p:spPr>
          <a:xfrm>
            <a:off x="10872216" y="35661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60 dias</a:t>
            </a:r>
            <a:endParaRPr lang="en-US" sz="800" dirty="0"/>
          </a:p>
        </p:txBody>
      </p:sp>
      <p:sp>
        <p:nvSpPr>
          <p:cNvPr id="85" name="Shape 80"/>
          <p:cNvSpPr/>
          <p:nvPr/>
        </p:nvSpPr>
        <p:spPr>
          <a:xfrm>
            <a:off x="164592" y="4050792"/>
            <a:ext cx="7626096" cy="2578608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6" name="Shape 81"/>
          <p:cNvSpPr/>
          <p:nvPr/>
        </p:nvSpPr>
        <p:spPr>
          <a:xfrm>
            <a:off x="164592" y="4215384"/>
            <a:ext cx="50292" cy="2249424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329184" y="416052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por Área</a:t>
            </a:r>
            <a:endParaRPr lang="en-US" sz="900" dirty="0"/>
          </a:p>
        </p:txBody>
      </p:sp>
      <p:sp>
        <p:nvSpPr>
          <p:cNvPr id="88" name="Shape 83"/>
          <p:cNvSpPr/>
          <p:nvPr/>
        </p:nvSpPr>
        <p:spPr>
          <a:xfrm>
            <a:off x="2176272" y="4197096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89" name="Text 84"/>
          <p:cNvSpPr/>
          <p:nvPr/>
        </p:nvSpPr>
        <p:spPr>
          <a:xfrm>
            <a:off x="2304288" y="4169664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700" dirty="0"/>
          </a:p>
        </p:txBody>
      </p:sp>
      <p:sp>
        <p:nvSpPr>
          <p:cNvPr id="90" name="Shape 85"/>
          <p:cNvSpPr/>
          <p:nvPr/>
        </p:nvSpPr>
        <p:spPr>
          <a:xfrm>
            <a:off x="3319272" y="4197096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91" name="Text 86"/>
          <p:cNvSpPr/>
          <p:nvPr/>
        </p:nvSpPr>
        <p:spPr>
          <a:xfrm>
            <a:off x="3447288" y="4169664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700" dirty="0"/>
          </a:p>
        </p:txBody>
      </p:sp>
      <p:sp>
        <p:nvSpPr>
          <p:cNvPr id="92" name="Shape 87"/>
          <p:cNvSpPr/>
          <p:nvPr/>
        </p:nvSpPr>
        <p:spPr>
          <a:xfrm>
            <a:off x="4462272" y="4197096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3" name="Text 88"/>
          <p:cNvSpPr/>
          <p:nvPr/>
        </p:nvSpPr>
        <p:spPr>
          <a:xfrm>
            <a:off x="4590288" y="4169664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iniciado</a:t>
            </a:r>
            <a:endParaRPr lang="en-US" sz="700" dirty="0"/>
          </a:p>
        </p:txBody>
      </p:sp>
      <p:sp>
        <p:nvSpPr>
          <p:cNvPr id="94" name="Shape 89"/>
          <p:cNvSpPr/>
          <p:nvPr/>
        </p:nvSpPr>
        <p:spPr>
          <a:xfrm>
            <a:off x="274320" y="4453128"/>
            <a:ext cx="7424928" cy="274320"/>
          </a:xfrm>
          <a:prstGeom prst="roundRect">
            <a:avLst>
              <a:gd name="adj" fmla="val 20000"/>
            </a:avLst>
          </a:prstGeom>
          <a:solidFill>
            <a:srgbClr val="2E101E"/>
          </a:solidFill>
          <a:ln w="12700">
            <a:solidFill>
              <a:srgbClr val="2E101E"/>
            </a:solidFill>
            <a:prstDash val="solid"/>
          </a:ln>
        </p:spPr>
      </p:sp>
      <p:sp>
        <p:nvSpPr>
          <p:cNvPr id="95" name="Text 90"/>
          <p:cNvSpPr/>
          <p:nvPr/>
        </p:nvSpPr>
        <p:spPr>
          <a:xfrm>
            <a:off x="329184" y="4453128"/>
            <a:ext cx="27432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800" dirty="0"/>
          </a:p>
        </p:txBody>
      </p:sp>
      <p:sp>
        <p:nvSpPr>
          <p:cNvPr id="96" name="Text 91"/>
          <p:cNvSpPr/>
          <p:nvPr/>
        </p:nvSpPr>
        <p:spPr>
          <a:xfrm>
            <a:off x="3072384" y="44531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97" name="Text 92"/>
          <p:cNvSpPr/>
          <p:nvPr/>
        </p:nvSpPr>
        <p:spPr>
          <a:xfrm>
            <a:off x="3621024" y="44531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Status</a:t>
            </a:r>
            <a:endParaRPr lang="en-US" sz="800" dirty="0"/>
          </a:p>
        </p:txBody>
      </p:sp>
      <p:sp>
        <p:nvSpPr>
          <p:cNvPr id="98" name="Shape 93"/>
          <p:cNvSpPr/>
          <p:nvPr/>
        </p:nvSpPr>
        <p:spPr>
          <a:xfrm>
            <a:off x="274320" y="4782312"/>
            <a:ext cx="7424928" cy="265176"/>
          </a:xfrm>
          <a:prstGeom prst="rect">
            <a:avLst/>
          </a:prstGeom>
          <a:solidFill>
            <a:srgbClr val="F9F7FA"/>
          </a:solidFill>
          <a:ln w="5080">
            <a:solidFill>
              <a:srgbClr val="F0EEF2"/>
            </a:solidFill>
            <a:prstDash val="solid"/>
          </a:ln>
        </p:spPr>
      </p:sp>
      <p:sp>
        <p:nvSpPr>
          <p:cNvPr id="99" name="Text 94"/>
          <p:cNvSpPr/>
          <p:nvPr/>
        </p:nvSpPr>
        <p:spPr>
          <a:xfrm>
            <a:off x="329184" y="4818888"/>
            <a:ext cx="2651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Admissão e Cadastro</a:t>
            </a:r>
            <a:endParaRPr lang="en-US" sz="800" dirty="0"/>
          </a:p>
        </p:txBody>
      </p:sp>
      <p:sp>
        <p:nvSpPr>
          <p:cNvPr id="100" name="Text 95"/>
          <p:cNvSpPr/>
          <p:nvPr/>
        </p:nvSpPr>
        <p:spPr>
          <a:xfrm>
            <a:off x="3072384" y="4818888"/>
            <a:ext cx="548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01" name="Shape 96"/>
          <p:cNvSpPr/>
          <p:nvPr/>
        </p:nvSpPr>
        <p:spPr>
          <a:xfrm>
            <a:off x="3621024" y="4850892"/>
            <a:ext cx="3886200" cy="128016"/>
          </a:xfrm>
          <a:prstGeom prst="roundRect">
            <a:avLst>
              <a:gd name="adj" fmla="val 28571"/>
            </a:avLst>
          </a:prstGeom>
          <a:solidFill>
            <a:srgbClr val="EEECF0"/>
          </a:solidFill>
          <a:ln w="12700">
            <a:solidFill>
              <a:srgbClr val="EEECF0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3621024" y="4850892"/>
            <a:ext cx="3886200" cy="128016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03" name="Text 98"/>
          <p:cNvSpPr/>
          <p:nvPr/>
        </p:nvSpPr>
        <p:spPr>
          <a:xfrm>
            <a:off x="3621024" y="4841748"/>
            <a:ext cx="3886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04" name="Shape 99"/>
          <p:cNvSpPr/>
          <p:nvPr/>
        </p:nvSpPr>
        <p:spPr>
          <a:xfrm>
            <a:off x="274320" y="5074920"/>
            <a:ext cx="742492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F0EEF2"/>
            </a:solidFill>
            <a:prstDash val="solid"/>
          </a:ln>
        </p:spPr>
      </p:sp>
      <p:sp>
        <p:nvSpPr>
          <p:cNvPr id="105" name="Text 100"/>
          <p:cNvSpPr/>
          <p:nvPr/>
        </p:nvSpPr>
        <p:spPr>
          <a:xfrm>
            <a:off x="329184" y="5111496"/>
            <a:ext cx="2651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</a:t>
            </a:r>
            <a:endParaRPr lang="en-US" sz="800" dirty="0"/>
          </a:p>
        </p:txBody>
      </p:sp>
      <p:sp>
        <p:nvSpPr>
          <p:cNvPr id="106" name="Text 101"/>
          <p:cNvSpPr/>
          <p:nvPr/>
        </p:nvSpPr>
        <p:spPr>
          <a:xfrm>
            <a:off x="3072384" y="5111496"/>
            <a:ext cx="548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07" name="Shape 102"/>
          <p:cNvSpPr/>
          <p:nvPr/>
        </p:nvSpPr>
        <p:spPr>
          <a:xfrm>
            <a:off x="3621024" y="5143500"/>
            <a:ext cx="3886200" cy="128016"/>
          </a:xfrm>
          <a:prstGeom prst="roundRect">
            <a:avLst>
              <a:gd name="adj" fmla="val 28571"/>
            </a:avLst>
          </a:prstGeom>
          <a:solidFill>
            <a:srgbClr val="EEECF0"/>
          </a:solidFill>
          <a:ln w="12700">
            <a:solidFill>
              <a:srgbClr val="EEECF0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3621024" y="5143500"/>
            <a:ext cx="1295400" cy="128016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9" name="Text 104"/>
          <p:cNvSpPr/>
          <p:nvPr/>
        </p:nvSpPr>
        <p:spPr>
          <a:xfrm>
            <a:off x="3621024" y="5134356"/>
            <a:ext cx="1295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10" name="Shape 105"/>
          <p:cNvSpPr/>
          <p:nvPr/>
        </p:nvSpPr>
        <p:spPr>
          <a:xfrm>
            <a:off x="4916424" y="5143500"/>
            <a:ext cx="1295400" cy="128016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11" name="Text 106"/>
          <p:cNvSpPr/>
          <p:nvPr/>
        </p:nvSpPr>
        <p:spPr>
          <a:xfrm>
            <a:off x="4916424" y="5134356"/>
            <a:ext cx="1295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12" name="Shape 107"/>
          <p:cNvSpPr/>
          <p:nvPr/>
        </p:nvSpPr>
        <p:spPr>
          <a:xfrm>
            <a:off x="6211824" y="5143500"/>
            <a:ext cx="1295400" cy="12801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3" name="Text 108"/>
          <p:cNvSpPr/>
          <p:nvPr/>
        </p:nvSpPr>
        <p:spPr>
          <a:xfrm>
            <a:off x="6211824" y="5134356"/>
            <a:ext cx="1295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14" name="Shape 109"/>
          <p:cNvSpPr/>
          <p:nvPr/>
        </p:nvSpPr>
        <p:spPr>
          <a:xfrm>
            <a:off x="274320" y="5367528"/>
            <a:ext cx="7424928" cy="265176"/>
          </a:xfrm>
          <a:prstGeom prst="rect">
            <a:avLst/>
          </a:prstGeom>
          <a:solidFill>
            <a:srgbClr val="F9F7FA"/>
          </a:solidFill>
          <a:ln w="5080">
            <a:solidFill>
              <a:srgbClr val="F0EEF2"/>
            </a:solidFill>
            <a:prstDash val="solid"/>
          </a:ln>
        </p:spPr>
      </p:sp>
      <p:sp>
        <p:nvSpPr>
          <p:cNvPr id="115" name="Text 110"/>
          <p:cNvSpPr/>
          <p:nvPr/>
        </p:nvSpPr>
        <p:spPr>
          <a:xfrm>
            <a:off x="329184" y="5404104"/>
            <a:ext cx="2651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Remuneração</a:t>
            </a:r>
            <a:endParaRPr lang="en-US" sz="800" dirty="0"/>
          </a:p>
        </p:txBody>
      </p:sp>
      <p:sp>
        <p:nvSpPr>
          <p:cNvPr id="116" name="Text 111"/>
          <p:cNvSpPr/>
          <p:nvPr/>
        </p:nvSpPr>
        <p:spPr>
          <a:xfrm>
            <a:off x="3072384" y="5404104"/>
            <a:ext cx="548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17" name="Shape 112"/>
          <p:cNvSpPr/>
          <p:nvPr/>
        </p:nvSpPr>
        <p:spPr>
          <a:xfrm>
            <a:off x="3621024" y="5436108"/>
            <a:ext cx="3886200" cy="128016"/>
          </a:xfrm>
          <a:prstGeom prst="roundRect">
            <a:avLst>
              <a:gd name="adj" fmla="val 28571"/>
            </a:avLst>
          </a:prstGeom>
          <a:solidFill>
            <a:srgbClr val="EEECF0"/>
          </a:solidFill>
          <a:ln w="12700">
            <a:solidFill>
              <a:srgbClr val="EEECF0"/>
            </a:solidFill>
            <a:prstDash val="solid"/>
          </a:ln>
        </p:spPr>
      </p:sp>
      <p:sp>
        <p:nvSpPr>
          <p:cNvPr id="118" name="Shape 113"/>
          <p:cNvSpPr/>
          <p:nvPr/>
        </p:nvSpPr>
        <p:spPr>
          <a:xfrm>
            <a:off x="3621024" y="5436108"/>
            <a:ext cx="2590800" cy="128016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19" name="Text 114"/>
          <p:cNvSpPr/>
          <p:nvPr/>
        </p:nvSpPr>
        <p:spPr>
          <a:xfrm>
            <a:off x="3621024" y="5426964"/>
            <a:ext cx="2590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20" name="Shape 115"/>
          <p:cNvSpPr/>
          <p:nvPr/>
        </p:nvSpPr>
        <p:spPr>
          <a:xfrm>
            <a:off x="6211824" y="5436108"/>
            <a:ext cx="1295400" cy="12801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1" name="Text 116"/>
          <p:cNvSpPr/>
          <p:nvPr/>
        </p:nvSpPr>
        <p:spPr>
          <a:xfrm>
            <a:off x="6211824" y="5426964"/>
            <a:ext cx="1295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22" name="Shape 117"/>
          <p:cNvSpPr/>
          <p:nvPr/>
        </p:nvSpPr>
        <p:spPr>
          <a:xfrm>
            <a:off x="274320" y="5660136"/>
            <a:ext cx="742492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F0EEF2"/>
            </a:solidFill>
            <a:prstDash val="solid"/>
          </a:ln>
        </p:spPr>
      </p:sp>
      <p:sp>
        <p:nvSpPr>
          <p:cNvPr id="123" name="Text 118"/>
          <p:cNvSpPr/>
          <p:nvPr/>
        </p:nvSpPr>
        <p:spPr>
          <a:xfrm>
            <a:off x="329184" y="5696712"/>
            <a:ext cx="2651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800" dirty="0"/>
          </a:p>
        </p:txBody>
      </p:sp>
      <p:sp>
        <p:nvSpPr>
          <p:cNvPr id="124" name="Text 119"/>
          <p:cNvSpPr/>
          <p:nvPr/>
        </p:nvSpPr>
        <p:spPr>
          <a:xfrm>
            <a:off x="3072384" y="5696712"/>
            <a:ext cx="548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25" name="Shape 120"/>
          <p:cNvSpPr/>
          <p:nvPr/>
        </p:nvSpPr>
        <p:spPr>
          <a:xfrm>
            <a:off x="3621024" y="5728716"/>
            <a:ext cx="3886200" cy="128016"/>
          </a:xfrm>
          <a:prstGeom prst="roundRect">
            <a:avLst>
              <a:gd name="adj" fmla="val 28571"/>
            </a:avLst>
          </a:prstGeom>
          <a:solidFill>
            <a:srgbClr val="EEECF0"/>
          </a:solidFill>
          <a:ln w="12700">
            <a:solidFill>
              <a:srgbClr val="EEECF0"/>
            </a:solidFill>
            <a:prstDash val="solid"/>
          </a:ln>
        </p:spPr>
      </p:sp>
      <p:sp>
        <p:nvSpPr>
          <p:cNvPr id="126" name="Shape 121"/>
          <p:cNvSpPr/>
          <p:nvPr/>
        </p:nvSpPr>
        <p:spPr>
          <a:xfrm>
            <a:off x="3621024" y="5728716"/>
            <a:ext cx="1295400" cy="128016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27" name="Text 122"/>
          <p:cNvSpPr/>
          <p:nvPr/>
        </p:nvSpPr>
        <p:spPr>
          <a:xfrm>
            <a:off x="3621024" y="5719572"/>
            <a:ext cx="1295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28" name="Shape 123"/>
          <p:cNvSpPr/>
          <p:nvPr/>
        </p:nvSpPr>
        <p:spPr>
          <a:xfrm>
            <a:off x="4916424" y="5728716"/>
            <a:ext cx="1295400" cy="12801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9" name="Text 124"/>
          <p:cNvSpPr/>
          <p:nvPr/>
        </p:nvSpPr>
        <p:spPr>
          <a:xfrm>
            <a:off x="4916424" y="5719572"/>
            <a:ext cx="1295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30" name="Shape 125"/>
          <p:cNvSpPr/>
          <p:nvPr/>
        </p:nvSpPr>
        <p:spPr>
          <a:xfrm>
            <a:off x="274320" y="5952744"/>
            <a:ext cx="7424928" cy="265176"/>
          </a:xfrm>
          <a:prstGeom prst="rect">
            <a:avLst/>
          </a:prstGeom>
          <a:solidFill>
            <a:srgbClr val="F9F7FA"/>
          </a:solidFill>
          <a:ln w="5080">
            <a:solidFill>
              <a:srgbClr val="F0EEF2"/>
            </a:solidFill>
            <a:prstDash val="solid"/>
          </a:ln>
        </p:spPr>
      </p:sp>
      <p:sp>
        <p:nvSpPr>
          <p:cNvPr id="131" name="Text 126"/>
          <p:cNvSpPr/>
          <p:nvPr/>
        </p:nvSpPr>
        <p:spPr>
          <a:xfrm>
            <a:off x="329184" y="5989320"/>
            <a:ext cx="2651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</a:t>
            </a:r>
            <a:endParaRPr lang="en-US" sz="800" dirty="0"/>
          </a:p>
        </p:txBody>
      </p:sp>
      <p:sp>
        <p:nvSpPr>
          <p:cNvPr id="132" name="Text 127"/>
          <p:cNvSpPr/>
          <p:nvPr/>
        </p:nvSpPr>
        <p:spPr>
          <a:xfrm>
            <a:off x="3072384" y="5989320"/>
            <a:ext cx="548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33" name="Shape 128"/>
          <p:cNvSpPr/>
          <p:nvPr/>
        </p:nvSpPr>
        <p:spPr>
          <a:xfrm>
            <a:off x="3621024" y="6021324"/>
            <a:ext cx="3886200" cy="128016"/>
          </a:xfrm>
          <a:prstGeom prst="roundRect">
            <a:avLst>
              <a:gd name="adj" fmla="val 28571"/>
            </a:avLst>
          </a:prstGeom>
          <a:solidFill>
            <a:srgbClr val="EEECF0"/>
          </a:solidFill>
          <a:ln w="12700">
            <a:solidFill>
              <a:srgbClr val="EEECF0"/>
            </a:solidFill>
            <a:prstDash val="solid"/>
          </a:ln>
        </p:spPr>
      </p:sp>
      <p:sp>
        <p:nvSpPr>
          <p:cNvPr id="134" name="Shape 129"/>
          <p:cNvSpPr/>
          <p:nvPr/>
        </p:nvSpPr>
        <p:spPr>
          <a:xfrm>
            <a:off x="3621024" y="6021324"/>
            <a:ext cx="1295400" cy="128016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35" name="Text 130"/>
          <p:cNvSpPr/>
          <p:nvPr/>
        </p:nvSpPr>
        <p:spPr>
          <a:xfrm>
            <a:off x="3621024" y="6012180"/>
            <a:ext cx="1295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36" name="Shape 131"/>
          <p:cNvSpPr/>
          <p:nvPr/>
        </p:nvSpPr>
        <p:spPr>
          <a:xfrm>
            <a:off x="274320" y="6245352"/>
            <a:ext cx="742492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F0EEF2"/>
            </a:solidFill>
            <a:prstDash val="solid"/>
          </a:ln>
        </p:spPr>
      </p:sp>
      <p:sp>
        <p:nvSpPr>
          <p:cNvPr id="137" name="Text 132"/>
          <p:cNvSpPr/>
          <p:nvPr/>
        </p:nvSpPr>
        <p:spPr>
          <a:xfrm>
            <a:off x="329184" y="6281928"/>
            <a:ext cx="2651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R&amp;S</a:t>
            </a:r>
            <a:endParaRPr lang="en-US" sz="800" dirty="0"/>
          </a:p>
        </p:txBody>
      </p:sp>
      <p:sp>
        <p:nvSpPr>
          <p:cNvPr id="138" name="Text 133"/>
          <p:cNvSpPr/>
          <p:nvPr/>
        </p:nvSpPr>
        <p:spPr>
          <a:xfrm>
            <a:off x="3072384" y="6281928"/>
            <a:ext cx="548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39" name="Shape 134"/>
          <p:cNvSpPr/>
          <p:nvPr/>
        </p:nvSpPr>
        <p:spPr>
          <a:xfrm>
            <a:off x="3621024" y="6313932"/>
            <a:ext cx="3886200" cy="128016"/>
          </a:xfrm>
          <a:prstGeom prst="roundRect">
            <a:avLst>
              <a:gd name="adj" fmla="val 28571"/>
            </a:avLst>
          </a:prstGeom>
          <a:solidFill>
            <a:srgbClr val="EEECF0"/>
          </a:solidFill>
          <a:ln w="12700">
            <a:solidFill>
              <a:srgbClr val="EEECF0"/>
            </a:solidFill>
            <a:prstDash val="solid"/>
          </a:ln>
        </p:spPr>
      </p:sp>
      <p:sp>
        <p:nvSpPr>
          <p:cNvPr id="140" name="Shape 135"/>
          <p:cNvSpPr/>
          <p:nvPr/>
        </p:nvSpPr>
        <p:spPr>
          <a:xfrm>
            <a:off x="3621024" y="6313932"/>
            <a:ext cx="1295400" cy="128016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41" name="Text 136"/>
          <p:cNvSpPr/>
          <p:nvPr/>
        </p:nvSpPr>
        <p:spPr>
          <a:xfrm>
            <a:off x="3621024" y="6304788"/>
            <a:ext cx="1295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42" name="Shape 137"/>
          <p:cNvSpPr/>
          <p:nvPr/>
        </p:nvSpPr>
        <p:spPr>
          <a:xfrm>
            <a:off x="7955280" y="4050792"/>
            <a:ext cx="4041648" cy="2578608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3" name="Shape 138"/>
          <p:cNvSpPr/>
          <p:nvPr/>
        </p:nvSpPr>
        <p:spPr>
          <a:xfrm>
            <a:off x="7955280" y="4215384"/>
            <a:ext cx="50292" cy="2249424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44" name="Text 139"/>
          <p:cNvSpPr/>
          <p:nvPr/>
        </p:nvSpPr>
        <p:spPr>
          <a:xfrm>
            <a:off x="8110728" y="41605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Portfólio</a:t>
            </a:r>
            <a:endParaRPr lang="en-US" sz="900" dirty="0"/>
          </a:p>
        </p:txBody>
      </p:sp>
      <p:sp>
        <p:nvSpPr>
          <p:cNvPr id="145" name="Shape 140"/>
          <p:cNvSpPr/>
          <p:nvPr/>
        </p:nvSpPr>
        <p:spPr>
          <a:xfrm>
            <a:off x="8119872" y="4434840"/>
            <a:ext cx="3767328" cy="1298448"/>
          </a:xfrm>
          <a:prstGeom prst="roundRect">
            <a:avLst>
              <a:gd name="adj" fmla="val 8451"/>
            </a:avLst>
          </a:prstGeom>
          <a:solidFill>
            <a:srgbClr val="F5F3F8"/>
          </a:solidFill>
          <a:ln w="12700">
            <a:solidFill>
              <a:srgbClr val="EEECF2"/>
            </a:solidFill>
            <a:prstDash val="solid"/>
          </a:ln>
        </p:spPr>
      </p:sp>
      <p:sp>
        <p:nvSpPr>
          <p:cNvPr id="146" name="Text 141"/>
          <p:cNvSpPr/>
          <p:nvPr/>
        </p:nvSpPr>
        <p:spPr>
          <a:xfrm>
            <a:off x="8119872" y="4526280"/>
            <a:ext cx="3767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400" dirty="0"/>
          </a:p>
        </p:txBody>
      </p:sp>
      <p:sp>
        <p:nvSpPr>
          <p:cNvPr id="147" name="Text 142"/>
          <p:cNvSpPr/>
          <p:nvPr/>
        </p:nvSpPr>
        <p:spPr>
          <a:xfrm>
            <a:off x="8119872" y="5129784"/>
            <a:ext cx="3767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NO PORTFÓLIO</a:t>
            </a:r>
            <a:endParaRPr lang="en-US" sz="750" dirty="0"/>
          </a:p>
        </p:txBody>
      </p:sp>
      <p:sp>
        <p:nvSpPr>
          <p:cNvPr id="148" name="Shape 143"/>
          <p:cNvSpPr/>
          <p:nvPr/>
        </p:nvSpPr>
        <p:spPr>
          <a:xfrm>
            <a:off x="8193024" y="5440680"/>
            <a:ext cx="2263140" cy="22860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49" name="Shape 144"/>
          <p:cNvSpPr/>
          <p:nvPr/>
        </p:nvSpPr>
        <p:spPr>
          <a:xfrm>
            <a:off x="10456164" y="5440680"/>
            <a:ext cx="1131570" cy="2286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0" name="Shape 145"/>
          <p:cNvSpPr/>
          <p:nvPr/>
        </p:nvSpPr>
        <p:spPr>
          <a:xfrm>
            <a:off x="11587734" y="5440680"/>
            <a:ext cx="226314" cy="228600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51" name="Shape 146"/>
          <p:cNvSpPr/>
          <p:nvPr/>
        </p:nvSpPr>
        <p:spPr>
          <a:xfrm>
            <a:off x="8119872" y="591616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52" name="Text 147"/>
          <p:cNvSpPr/>
          <p:nvPr/>
        </p:nvSpPr>
        <p:spPr>
          <a:xfrm>
            <a:off x="8266176" y="587959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800" dirty="0"/>
          </a:p>
        </p:txBody>
      </p:sp>
      <p:sp>
        <p:nvSpPr>
          <p:cNvPr id="153" name="Text 148"/>
          <p:cNvSpPr/>
          <p:nvPr/>
        </p:nvSpPr>
        <p:spPr>
          <a:xfrm>
            <a:off x="9966960" y="58795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63%</a:t>
            </a:r>
            <a:endParaRPr lang="en-US" sz="800" dirty="0"/>
          </a:p>
        </p:txBody>
      </p:sp>
      <p:sp>
        <p:nvSpPr>
          <p:cNvPr id="154" name="Shape 149"/>
          <p:cNvSpPr/>
          <p:nvPr/>
        </p:nvSpPr>
        <p:spPr>
          <a:xfrm>
            <a:off x="8119872" y="6190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5" name="Text 150"/>
          <p:cNvSpPr/>
          <p:nvPr/>
        </p:nvSpPr>
        <p:spPr>
          <a:xfrm>
            <a:off x="8266176" y="615391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Iniciado</a:t>
            </a:r>
            <a:endParaRPr lang="en-US" sz="800" dirty="0"/>
          </a:p>
        </p:txBody>
      </p:sp>
      <p:sp>
        <p:nvSpPr>
          <p:cNvPr id="156" name="Text 151"/>
          <p:cNvSpPr/>
          <p:nvPr/>
        </p:nvSpPr>
        <p:spPr>
          <a:xfrm>
            <a:off x="9966960" y="61539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31%</a:t>
            </a:r>
            <a:endParaRPr lang="en-US" sz="800" dirty="0"/>
          </a:p>
        </p:txBody>
      </p:sp>
      <p:sp>
        <p:nvSpPr>
          <p:cNvPr id="157" name="Shape 152"/>
          <p:cNvSpPr/>
          <p:nvPr/>
        </p:nvSpPr>
        <p:spPr>
          <a:xfrm>
            <a:off x="8119872" y="646480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58" name="Text 153"/>
          <p:cNvSpPr/>
          <p:nvPr/>
        </p:nvSpPr>
        <p:spPr>
          <a:xfrm>
            <a:off x="8266176" y="642823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800" dirty="0"/>
          </a:p>
        </p:txBody>
      </p:sp>
      <p:sp>
        <p:nvSpPr>
          <p:cNvPr id="159" name="Text 154"/>
          <p:cNvSpPr/>
          <p:nvPr/>
        </p:nvSpPr>
        <p:spPr>
          <a:xfrm>
            <a:off x="9966960" y="64282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6%</a:t>
            </a:r>
            <a:endParaRPr lang="en-US" sz="800" dirty="0"/>
          </a:p>
        </p:txBody>
      </p:sp>
      <p:sp>
        <p:nvSpPr>
          <p:cNvPr id="160" name="Shape 15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2E101E"/>
          </a:solidFill>
          <a:ln w="12700">
            <a:solidFill>
              <a:srgbClr val="2E101E"/>
            </a:solidFill>
            <a:prstDash val="solid"/>
          </a:ln>
        </p:spPr>
      </p:sp>
      <p:sp>
        <p:nvSpPr>
          <p:cNvPr id="161" name="Text 156"/>
          <p:cNvSpPr/>
          <p:nvPr/>
        </p:nvSpPr>
        <p:spPr>
          <a:xfrm>
            <a:off x="274320" y="6675120"/>
            <a:ext cx="896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PARAR Corpay  ·  Soluções &amp; Inovação  ·  Portfólio RH 2026  ·  Confidencial</a:t>
            </a:r>
            <a:endParaRPr lang="en-US" sz="700" dirty="0"/>
          </a:p>
        </p:txBody>
      </p:sp>
      <p:sp>
        <p:nvSpPr>
          <p:cNvPr id="162" name="Text 157"/>
          <p:cNvSpPr/>
          <p:nvPr/>
        </p:nvSpPr>
        <p:spPr>
          <a:xfrm>
            <a:off x="9601200" y="66751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7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em 24 de abr. de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2026-04-27T22:20:52Z</dcterms:created>
  <dcterms:modified xsi:type="dcterms:W3CDTF">2026-04-27T22:20:52Z</dcterms:modified>
</cp:coreProperties>
</file>